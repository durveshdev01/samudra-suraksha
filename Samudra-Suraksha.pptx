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ora" pitchFamily="2" charset="0"/>
      <p:regular r:id="rId17"/>
    </p:embeddedFont>
    <p:embeddedFont>
      <p:font typeface="Source Sans 3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AC7"/>
    <a:srgbClr val="E17FB6"/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75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52289B-4EBD-123D-E4DE-E23B3FC4BEDB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2051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Samudra Suraksha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020253"/>
            <a:ext cx="7468553" cy="2253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Integrated Platform for Crowdsourced Ocean Hazard Reporting and Social Media Analytics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37724" y="427339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Mid-Semester Progress Review | March 2026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770808"/>
            <a:ext cx="4301436" cy="241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Team:</a:t>
            </a: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Anika </a:t>
            </a:r>
            <a:r>
              <a:rPr lang="en-US" sz="18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Aswar</a:t>
            </a: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(12414395)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Bhargav Ade — Leader (12414389)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Durvesh </a:t>
            </a:r>
            <a:r>
              <a:rPr lang="en-US" sz="18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Giradkar</a:t>
            </a: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(12411092)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Harshal </a:t>
            </a:r>
            <a:r>
              <a:rPr lang="en-US" sz="18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Bhonde</a:t>
            </a: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(12414390)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Swaraj Gaikwad (12412531)</a:t>
            </a:r>
            <a:endParaRPr lang="en-US" sz="18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37723" y="7293202"/>
            <a:ext cx="74685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Theme: Disaster Management | Category: Software | PS ID: 25039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1540"/>
            <a:ext cx="515814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Samudra Suraksha?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516023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37724" y="2083713"/>
            <a:ext cx="4216241" cy="1904643"/>
          </a:xfrm>
          <a:prstGeom prst="roundRect">
            <a:avLst>
              <a:gd name="adj" fmla="val 5761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4" y="2083713"/>
            <a:ext cx="91440" cy="19046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616" y="2298025"/>
            <a:ext cx="298037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Disconnected Infrastructure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20616" y="2671524"/>
            <a:ext cx="3719036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India's 7,500 km coastline serves 100M+ people with no unified real-time hazard reporting system connecting citizens to emergency response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207079" y="2083713"/>
            <a:ext cx="4216241" cy="1904643"/>
          </a:xfrm>
          <a:prstGeom prst="roundRect">
            <a:avLst>
              <a:gd name="adj" fmla="val 5761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219" y="2083713"/>
            <a:ext cx="91440" cy="19046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9972" y="229802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Gaps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489972" y="2671524"/>
            <a:ext cx="3719036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Existing platforms like INCOIS and IMD lack crowdsourced ground-level data, automated misinformation filtering, and comprehensive multilingual support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576435" y="2083713"/>
            <a:ext cx="4216241" cy="1904643"/>
          </a:xfrm>
          <a:prstGeom prst="roundRect">
            <a:avLst>
              <a:gd name="adj" fmla="val 5761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575" y="2083713"/>
            <a:ext cx="91440" cy="19046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59328" y="229802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Lives at Stake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859328" y="2671524"/>
            <a:ext cx="371903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Fragmented, delayed information costs lives — the 2018 Kerala floods caused 500+ deaths despite available meteorological data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7724" y="4218146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Vision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475899" y="4881563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40%</a:t>
            </a:r>
            <a:endParaRPr lang="en-US" sz="4950" dirty="0"/>
          </a:p>
        </p:txBody>
      </p:sp>
      <p:sp>
        <p:nvSpPr>
          <p:cNvPr id="18" name="Text 13"/>
          <p:cNvSpPr/>
          <p:nvPr/>
        </p:nvSpPr>
        <p:spPr>
          <a:xfrm>
            <a:off x="2902148" y="5724049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Response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37724" y="6097548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Simulated emergency response vs traditional methods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9101" y="4881563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100M+</a:t>
            </a:r>
            <a:endParaRPr lang="en-US" sz="4950" dirty="0"/>
          </a:p>
        </p:txBody>
      </p:sp>
      <p:sp>
        <p:nvSpPr>
          <p:cNvPr id="21" name="Text 16"/>
          <p:cNvSpPr/>
          <p:nvPr/>
        </p:nvSpPr>
        <p:spPr>
          <a:xfrm>
            <a:off x="9475351" y="5724049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Citizens Empowered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7410926" y="6097548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Coastal Indians to be protected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7724" y="6545461"/>
            <a:ext cx="12954952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"From scattered citizen signals to unified coastal safety — in under 60 seconds."</a:t>
            </a:r>
            <a:endParaRPr lang="en-US" sz="1850" dirty="0"/>
          </a:p>
        </p:txBody>
      </p:sp>
      <p:sp>
        <p:nvSpPr>
          <p:cNvPr id="24" name="Text 19"/>
          <p:cNvSpPr/>
          <p:nvPr/>
        </p:nvSpPr>
        <p:spPr>
          <a:xfrm>
            <a:off x="837724" y="7062430"/>
            <a:ext cx="129549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Pilot zones: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Kerala · Tamil Nadu · Gujarat · Odisha → Scalable to all 9 coastal states</a:t>
            </a:r>
            <a:endParaRPr lang="en-US" sz="15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FA9E291-33A4-2A16-7AAE-F9FABB90D186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41546"/>
            <a:ext cx="6503432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Samudra Suraksha?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962983"/>
            <a:ext cx="12954952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secure, government-facing web platform that unifies crowdsourced hazard reports, live INCOIS coastal data, and AI-analyzed social media signals into one real-time command center for coastal disaster response.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2835712"/>
            <a:ext cx="538520" cy="538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616523"/>
            <a:ext cx="263402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Citizen Reporting Hub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37724" y="4049673"/>
            <a:ext cx="4156710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Geo-tagged hazard reports with photos, GPS location, and urgency levels submitted via web form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6726" y="2835712"/>
            <a:ext cx="538520" cy="538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6726" y="3616523"/>
            <a:ext cx="2824639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Social Media Scanner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36726" y="4049673"/>
            <a:ext cx="4156829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AI classifies tweets by hazard type, urgency, and flags misinformation in real time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5847" y="2835712"/>
            <a:ext cx="538520" cy="538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35847" y="3616523"/>
            <a:ext cx="313753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Command Map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35847" y="4049673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Leaflet.js heatmaps, marker clustering, and region filters with live Supabase data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724" y="5419368"/>
            <a:ext cx="538520" cy="538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7724" y="6200180"/>
            <a:ext cx="339637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INCOIS Coastal Threat Layer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37724" y="6633329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WMS integration with INCOIS for Small Vessel Advisory Service with vessel safety data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6726" y="5419368"/>
            <a:ext cx="538520" cy="538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6726" y="6200180"/>
            <a:ext cx="313348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Government Portal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236726" y="6633329"/>
            <a:ext cx="4156829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Supabase Auth; dedicated dashboard for state-level government officials</a:t>
            </a:r>
            <a:endParaRPr lang="en-US" sz="16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DEF08B-EEE6-B6CD-86A7-1D3EE3E92128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61893"/>
            <a:ext cx="4393406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Workflow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659136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citizen input to government action in a seamless, real-time pipeline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061924"/>
            <a:ext cx="6477476" cy="7180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7151" y="291453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Citizen Input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17151" y="3259217"/>
            <a:ext cx="6118622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Hazard report submitted via web form (description + GPS + urgency + photo). Stored instantly in Supabase PostgreSQL. Location reverse-geocoded via OpenStreetMap Nominatim API.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061924"/>
            <a:ext cx="6477476" cy="7180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4627" y="291453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Social Intelligence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94627" y="3259217"/>
            <a:ext cx="6118622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 backend queries Gopher AI search API for multilingual coastal hazard keywords — English, Hindi (बाढ़), Tamil (வெள்ளம்), Telugu (వరద), Malayalam (വെള്ളപ്പൊക്കം). Up to 20 posts per batch. Gemini 1.5 Flash classifies each post: hazard type, urgency level, category, misinformation flag.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444008"/>
            <a:ext cx="6477476" cy="7180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7151" y="5296614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Visualization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017151" y="5641300"/>
            <a:ext cx="6118622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data rendered on Leaflet.js interactive map — clustered markers, heatmap overlays, INCOIS WMS coastal threat boundaries. Chart.js displays hazard trends, category breakdowns, and tweet volume over time.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444008"/>
            <a:ext cx="6477476" cy="7180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4627" y="5296614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Action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94627" y="5641300"/>
            <a:ext cx="6118622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Officials log in via secure gov portal → review reports and flagged social posts → issue geo-targeted alerts → optionally dispatch FCM push notifications → export reports as CSV.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37724" y="6726198"/>
            <a:ext cx="12954952" cy="641390"/>
          </a:xfrm>
          <a:prstGeom prst="roundRect">
            <a:avLst>
              <a:gd name="adj" fmla="val 4199"/>
            </a:avLst>
          </a:prstGeom>
          <a:solidFill>
            <a:srgbClr val="49042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151" y="6976229"/>
            <a:ext cx="224314" cy="1794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0892" y="6905506"/>
            <a:ext cx="1219235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updates via Supabase channel subscriptions — reports and alerts refresh automatically without page reload</a:t>
            </a:r>
            <a:endParaRPr lang="en-US" sz="1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8201C7-CAA0-BB31-BC63-47268C8E8040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6655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1726287"/>
            <a:ext cx="12954952" cy="4287560"/>
          </a:xfrm>
          <a:prstGeom prst="roundRect">
            <a:avLst>
              <a:gd name="adj" fmla="val 67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1733907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6796" y="1833443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75534" y="1833443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92376" y="1833443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5344" y="2208609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36796" y="2308146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75534" y="2308146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Tailwind CSS, Vanilla 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92376" y="2308146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344" y="2683312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36796" y="2782848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Maps &amp; Visualization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75534" y="2782848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Leaflet.js, Leaflet MarkerCluster, Leaflet Heat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92376" y="2782848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5344" y="3158014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36796" y="3257550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Charts &amp; Tables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75534" y="3257550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Chart.js, jQuery, DataTables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92376" y="3257550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5344" y="3632716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36796" y="3732252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Server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5534" y="3732252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3.13, Flask, Flask-CORS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92376" y="3732252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5344" y="4107418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36796" y="4206954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/ NLP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75534" y="4206954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 1.5 Flash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92376" y="4206954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Integrated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5344" y="4582120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36796" y="4681657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Social Data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75534" y="4681657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Gopher AI Search API (Twitter/X)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392376" y="4681657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Integrated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5344" y="5056823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36796" y="5156359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Database, Auth &amp; Realtime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275534" y="5156359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Supabase (PostgreSQL + Auth + Channels)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392376" y="5156359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Complete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45344" y="5531525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36796" y="5631061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Alerts &amp; Export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275534" y="5631061"/>
            <a:ext cx="672631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FCM Push (UI stub only), CSV Export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392376" y="5631061"/>
            <a:ext cx="220122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🔄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20% / </a:t>
            </a: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CSV done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7724" y="6186130"/>
            <a:ext cx="129549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Lean stack — purposefully kept under 10 core tools for maintainability.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7724" y="6634043"/>
            <a:ext cx="12954952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</a:t>
            </a:r>
            <a:r>
              <a:rPr lang="en-US" sz="15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environment for isolated development.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7724" y="7097197"/>
            <a:ext cx="129549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 to cloud infrastructure currently in progress.</a:t>
            </a:r>
            <a:endParaRPr lang="en-US" sz="15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97970B-8E2D-7DDC-4088-CD8C9A278E45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65440"/>
            <a:ext cx="5690711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Web Dashboard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247299"/>
            <a:ext cx="95377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portal for state officials to monitor, verify, and respond to coastal hazards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37724" y="176605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0011" y="1968341"/>
            <a:ext cx="211216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🔐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Secure Auth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0011" y="2320647"/>
            <a:ext cx="3824049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Supabase JWT authentication, gov_portal role enforcement, state + department-level access control.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0011" y="3155394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100%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00888" y="176605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3175" y="1968341"/>
            <a:ext cx="2625566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🗺️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Interactive Hazard Map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03175" y="2320647"/>
            <a:ext cx="3824049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Leaflet.js live pins, heatmap overlay, marker clustering, filter by All / High Risk / Verified / Pending, real-time Supabase pulls.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03175" y="3155394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100%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64053" y="176605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6340" y="1968341"/>
            <a:ext cx="242220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📝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Reports Management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66340" y="2320647"/>
            <a:ext cx="3824049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View, search, filter (All / Pending / Verified / High Priority), verify or reject citizen reports with urgency tagging and reverse-geocoded addresses. Paginated table via DataTables.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66340" y="3406735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90%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724" y="399490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0011" y="4197191"/>
            <a:ext cx="215646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🔥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Hotspots &amp; Trends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40011" y="4549497"/>
            <a:ext cx="3824049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Dedicated heatmap of high-risk zones, hazard type pie chart, comparison bar chart, and 7-day trend line chart.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0011" y="5384244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90%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00888" y="399490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3175" y="4197191"/>
            <a:ext cx="213348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🔔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Alert Management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03175" y="4549497"/>
            <a:ext cx="3824049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geo-targeted alerts with severity levels (Emergency / High / Medium / Low / Minor), stored in Supabase gov_alerts table. FCM dispatch UI exists but not yet wired to Firebase SDK.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03175" y="5635585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🔄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40%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64053" y="3994904"/>
            <a:ext cx="4228624" cy="2094309"/>
          </a:xfrm>
          <a:prstGeom prst="roundRect">
            <a:avLst>
              <a:gd name="adj" fmla="val 128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6340" y="4197191"/>
            <a:ext cx="23238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📊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Analytics Dashboard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766340" y="4549497"/>
            <a:ext cx="3824049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Chart.js hazard pie chart, trend line chart, comparison bar chart, CSV report export.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66340" y="5132903"/>
            <a:ext cx="38240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🔄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60%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7724" y="6223754"/>
            <a:ext cx="12954952" cy="1340287"/>
          </a:xfrm>
          <a:prstGeom prst="roundRect">
            <a:avLst>
              <a:gd name="adj" fmla="val 2009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0011" y="6426041"/>
            <a:ext cx="211216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⚙️</a:t>
            </a: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Settings Panel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40011" y="6778347"/>
            <a:ext cx="1255037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Profile editor (name, email, department, region), notification toggles (Email / Push / SMS), dark mode toggle, map style selector (Streets / Satellite / Terrain).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40011" y="7110413"/>
            <a:ext cx="1255037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Status: 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90%</a:t>
            </a:r>
            <a:endParaRPr lang="en-US" sz="14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5EF98BD-1CAF-693F-9888-53B92EF1BE65}"/>
              </a:ext>
            </a:extLst>
          </p:cNvPr>
          <p:cNvSpPr/>
          <p:nvPr/>
        </p:nvSpPr>
        <p:spPr>
          <a:xfrm>
            <a:off x="12548756" y="758993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3310"/>
            <a:ext cx="8887182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Social Intelligence + Live Coastal Data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1754267"/>
            <a:ext cx="60960" cy="5742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4068" y="1784747"/>
            <a:ext cx="2824639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Social Media Scanner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114068" y="2217896"/>
            <a:ext cx="6079927" cy="485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Keyword Search: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Monitors Twitter/X for hazard terms in English, Hindi, Tamil, Telugu, and Malayalam simultaneously.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AI Classification: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Each post classified by type (Emergency/Alert, Observation, Panic/Fear, Awareness/Official Info) with urgency scoring (High/Medium/Low).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Misinformation Detection: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Flags exaggerated or false claims with a reason tag, displayed as a prominent red badge.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Social Map Integration: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Displays geo-located hazard posts with clustered markers on an interactive Leaflet map across Indian coastal states.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Analytics: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Features 4 dynamic charts: tweet volume over time, sentiment distribution, hazard type breakdown, and trending hashtags panel.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807" y="1754267"/>
            <a:ext cx="60960" cy="57423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12631" y="1784747"/>
            <a:ext cx="405598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INCOIS Coastal Threat Integration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712631" y="2217896"/>
            <a:ext cx="6080046" cy="524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SVAS Live Data Feed: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Direct WMS integration from samudra.incois.gov.in/geoserver overlaid on an Esri base map.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4-Level Threat System: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Visualizes Warning (Red), Alert (Orange), Watch (Yellow), and No Threat (Green) zones as clear map overlays.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Vessel Advisory Filter: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Allows filtering for specific boat sizes, providing tailored safety advisories for fishermen communities.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Multi-language Advisories: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Coastal safety information and alerts available in various regional languages.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Flexible View Modes: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Toggle between Map view, Table view, or a combined Map &amp; Table layout; filter by any of India's 14 coastal states and UTs.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Date-based Playback:</a:t>
            </a: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Officials can browse and compare historical coastal threat data across different dates for trend analysis.</a:t>
            </a:r>
            <a:endParaRPr lang="en-US" sz="165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C44B2B-AE48-E2FD-C7C6-A5538395C131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263"/>
            <a:ext cx="630662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 &amp; Why We're Different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1638895"/>
            <a:ext cx="12954952" cy="3338155"/>
          </a:xfrm>
          <a:prstGeom prst="roundRect">
            <a:avLst>
              <a:gd name="adj" fmla="val 8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1646515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7034" y="1746052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75773" y="1746052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INCOIS Portal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01909" y="1746052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IMD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28046" y="1746052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NDMA Alerts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54182" y="1746052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Samudra Suraksha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5344" y="2121218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37034" y="2220754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Crowdsourced Citizen Reporting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5773" y="2220754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1909" y="2220754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28046" y="2220754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54182" y="2220754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Web form + GPS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5344" y="2595920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37034" y="2695456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Social Media Monitoring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75773" y="2695456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01909" y="2695456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28046" y="2695456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4182" y="2695456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Gemini-powered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5344" y="3070622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37034" y="3170158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Misinformation Detection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75773" y="3170158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01909" y="3170158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28046" y="3170158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54182" y="3170158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Automated flagging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5344" y="3545324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37034" y="3644860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INCOIS Data Integration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75773" y="3644860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01909" y="3644860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28046" y="3644860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54182" y="3644860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WMS embedded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45344" y="4020026"/>
            <a:ext cx="12939713" cy="4747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7034" y="4119563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75773" y="4119563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01909" y="4119563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⚠️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Partial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28046" y="4119563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554182" y="4119563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5 languages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45344" y="4494728"/>
            <a:ext cx="12939713" cy="4747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37034" y="4594265"/>
            <a:ext cx="284821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Government Alert Dispatch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275773" y="4594265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⚠️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01909" y="4594265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28046" y="4594265"/>
            <a:ext cx="203561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554182" y="4594265"/>
            <a:ext cx="203942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FCM + portal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56824" y="5245060"/>
            <a:ext cx="3352443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40%</a:t>
            </a:r>
            <a:endParaRPr lang="en-US" sz="4950" dirty="0"/>
          </a:p>
        </p:txBody>
      </p:sp>
      <p:sp>
        <p:nvSpPr>
          <p:cNvPr id="47" name="Text 45"/>
          <p:cNvSpPr/>
          <p:nvPr/>
        </p:nvSpPr>
        <p:spPr>
          <a:xfrm>
            <a:off x="1806535" y="608754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Response</a:t>
            </a:r>
            <a:endParaRPr lang="en-US" sz="1750" dirty="0"/>
          </a:p>
        </p:txBody>
      </p:sp>
      <p:sp>
        <p:nvSpPr>
          <p:cNvPr id="48" name="Text 46"/>
          <p:cNvSpPr/>
          <p:nvPr/>
        </p:nvSpPr>
        <p:spPr>
          <a:xfrm>
            <a:off x="837724" y="6461046"/>
            <a:ext cx="419064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Simulated response time vs traditional methods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638919" y="5245060"/>
            <a:ext cx="3352443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300+</a:t>
            </a:r>
            <a:endParaRPr lang="en-US" sz="4950" dirty="0"/>
          </a:p>
        </p:txBody>
      </p:sp>
      <p:sp>
        <p:nvSpPr>
          <p:cNvPr id="50" name="Text 48"/>
          <p:cNvSpPr/>
          <p:nvPr/>
        </p:nvSpPr>
        <p:spPr>
          <a:xfrm>
            <a:off x="6188631" y="608754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Social Posts</a:t>
            </a:r>
            <a:endParaRPr lang="en-US" sz="1750" dirty="0"/>
          </a:p>
        </p:txBody>
      </p:sp>
      <p:sp>
        <p:nvSpPr>
          <p:cNvPr id="51" name="Text 49"/>
          <p:cNvSpPr/>
          <p:nvPr/>
        </p:nvSpPr>
        <p:spPr>
          <a:xfrm>
            <a:off x="5219819" y="6461046"/>
            <a:ext cx="419064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Classified in testing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021014" y="5245060"/>
            <a:ext cx="3352443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4950" dirty="0"/>
          </a:p>
        </p:txBody>
      </p:sp>
      <p:sp>
        <p:nvSpPr>
          <p:cNvPr id="53" name="Text 51"/>
          <p:cNvSpPr/>
          <p:nvPr/>
        </p:nvSpPr>
        <p:spPr>
          <a:xfrm>
            <a:off x="10570726" y="608754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Languages</a:t>
            </a:r>
            <a:endParaRPr lang="en-US" sz="1750" dirty="0"/>
          </a:p>
        </p:txBody>
      </p:sp>
      <p:sp>
        <p:nvSpPr>
          <p:cNvPr id="54" name="Text 52"/>
          <p:cNvSpPr/>
          <p:nvPr/>
        </p:nvSpPr>
        <p:spPr>
          <a:xfrm>
            <a:off x="9601914" y="6461046"/>
            <a:ext cx="419064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Supported (English, Hindi, Tamil, Telugu, Malayalam)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37724" y="7184588"/>
            <a:ext cx="129549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to all 9 coastal states | Designed for direct INCOIS/NDMA integration</a:t>
            </a:r>
            <a:endParaRPr lang="en-US" sz="15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421A477-9BB3-D64F-8AAB-9D3175E655B4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50" y="675323"/>
            <a:ext cx="5547717" cy="44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Mid-Semester Progress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6650" y="1159669"/>
            <a:ext cx="8770263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Overall Completion: ~55% | Core platform fully functional, advanced features in progress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16650" y="1646992"/>
            <a:ext cx="3602236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5" name="Shape 3"/>
          <p:cNvSpPr/>
          <p:nvPr/>
        </p:nvSpPr>
        <p:spPr>
          <a:xfrm>
            <a:off x="816650" y="1646992"/>
            <a:ext cx="3602236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532590" y="1646992"/>
            <a:ext cx="46910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6650" y="1984296"/>
            <a:ext cx="2988112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Authentication &amp; Role-based Access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75208" y="1646992"/>
            <a:ext cx="3679388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9" name="Shape 7"/>
          <p:cNvSpPr/>
          <p:nvPr/>
        </p:nvSpPr>
        <p:spPr>
          <a:xfrm>
            <a:off x="7375208" y="1646992"/>
            <a:ext cx="3311366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11168301" y="1646992"/>
            <a:ext cx="391954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75208" y="1984296"/>
            <a:ext cx="2811423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Map &amp; Citizen Reports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6650" y="2475190"/>
            <a:ext cx="3679388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16650" y="2475190"/>
            <a:ext cx="3311366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4609743" y="2475190"/>
            <a:ext cx="391954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6650" y="2812494"/>
            <a:ext cx="1905595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Hotspots &amp; Trends Tab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75208" y="2475190"/>
            <a:ext cx="3679388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5208" y="2475190"/>
            <a:ext cx="3311366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11168301" y="2475190"/>
            <a:ext cx="391954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75208" y="2812494"/>
            <a:ext cx="1784271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Settings Panel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6650" y="3303389"/>
            <a:ext cx="3682365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650" y="3303389"/>
            <a:ext cx="2945844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4612719" y="3303389"/>
            <a:ext cx="388977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6650" y="3640693"/>
            <a:ext cx="239089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INCOIS Coastal Threat 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75208" y="3303389"/>
            <a:ext cx="3701534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75208" y="3303389"/>
            <a:ext cx="2591038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90446" y="3303389"/>
            <a:ext cx="369808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70%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75208" y="3640693"/>
            <a:ext cx="2226350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Dashboard UI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6650" y="4131588"/>
            <a:ext cx="3679388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6650" y="4131588"/>
            <a:ext cx="2207538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4609743" y="4131588"/>
            <a:ext cx="391954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60%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6650" y="4468892"/>
            <a:ext cx="219027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Social Scanner (Gemini)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75208" y="4131588"/>
            <a:ext cx="3686175" cy="189548"/>
          </a:xfrm>
          <a:prstGeom prst="roundRect">
            <a:avLst>
              <a:gd name="adj" fmla="val 12002"/>
            </a:avLst>
          </a:prstGeom>
          <a:solidFill>
            <a:srgbClr val="444752"/>
          </a:solidFill>
          <a:ln/>
        </p:spPr>
      </p:sp>
      <p:sp>
        <p:nvSpPr>
          <p:cNvPr id="33" name="Shape 31"/>
          <p:cNvSpPr/>
          <p:nvPr/>
        </p:nvSpPr>
        <p:spPr>
          <a:xfrm>
            <a:off x="7375208" y="4131588"/>
            <a:ext cx="1474470" cy="189548"/>
          </a:xfrm>
          <a:prstGeom prst="roundRect">
            <a:avLst>
              <a:gd name="adj" fmla="val 12002"/>
            </a:avLst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11175087" y="4131588"/>
            <a:ext cx="385167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40%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375208" y="4468892"/>
            <a:ext cx="2474238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Management (FCM stub)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6650" y="4835962"/>
            <a:ext cx="285488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Milestones Achieved</a:t>
            </a:r>
            <a:endParaRPr lang="en-US" sz="22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650" y="5386030"/>
            <a:ext cx="151567" cy="151567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50" y="5579269"/>
            <a:ext cx="4268272" cy="1524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16650" y="5685473"/>
            <a:ext cx="42682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 backend live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Gopher AI social API fully integrated with async polling</a:t>
            </a:r>
            <a:endParaRPr lang="en-US" sz="115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1005" y="5386030"/>
            <a:ext cx="151567" cy="151567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005" y="5579269"/>
            <a:ext cx="4268272" cy="152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181005" y="5685473"/>
            <a:ext cx="42682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Supabase auth, realtime channels,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role-based gov portal working end-to-end</a:t>
            </a:r>
            <a:endParaRPr lang="en-US" sz="115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45360" y="5386030"/>
            <a:ext cx="151567" cy="151567"/>
          </a:xfrm>
          <a:prstGeom prst="rect">
            <a:avLst/>
          </a:prstGeom>
        </p:spPr>
      </p:pic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360" y="5579269"/>
            <a:ext cx="4268272" cy="1524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545360" y="5685473"/>
            <a:ext cx="42682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Leaflet interactive map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live report pins, heatmap, and marker clustering deployed</a:t>
            </a:r>
            <a:endParaRPr lang="en-US" sz="115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650" y="6310432"/>
            <a:ext cx="151567" cy="151567"/>
          </a:xfrm>
          <a:prstGeom prst="rect">
            <a:avLst/>
          </a:prstGeom>
        </p:spPr>
      </p:pic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650" y="6518791"/>
            <a:ext cx="6450449" cy="1524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16650" y="6640116"/>
            <a:ext cx="6450449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INCOIS WMS live coastal threat data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embedded with 14-state filtering and view mode toggle</a:t>
            </a:r>
            <a:endParaRPr lang="en-US" sz="11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63182" y="6310432"/>
            <a:ext cx="151567" cy="151567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3182" y="6518791"/>
            <a:ext cx="6450449" cy="1524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363182" y="6640116"/>
            <a:ext cx="6450449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jQuery DataTables integrated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sortable, searchable, paginated reports management</a:t>
            </a:r>
            <a:endParaRPr lang="en-US" sz="1150" dirty="0"/>
          </a:p>
        </p:txBody>
      </p:sp>
      <p:sp>
        <p:nvSpPr>
          <p:cNvPr id="52" name="Shape 40"/>
          <p:cNvSpPr/>
          <p:nvPr/>
        </p:nvSpPr>
        <p:spPr>
          <a:xfrm>
            <a:off x="816650" y="7029688"/>
            <a:ext cx="12997101" cy="494228"/>
          </a:xfrm>
          <a:prstGeom prst="roundRect">
            <a:avLst>
              <a:gd name="adj" fmla="val 4603"/>
            </a:avLst>
          </a:prstGeom>
          <a:solidFill>
            <a:srgbClr val="49042A"/>
          </a:solidFill>
          <a:ln/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8216" y="7231261"/>
            <a:ext cx="189548" cy="151567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1309330" y="7193875"/>
            <a:ext cx="12352853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300+ social posts classified</a:t>
            </a: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search</a:t>
            </a: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5 languages · </a:t>
            </a: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Supabase channel updates</a:t>
            </a: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 auth failures</a:t>
            </a: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testing</a:t>
            </a:r>
            <a:endParaRPr lang="en-US" sz="115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5157E15-CB43-07AA-E862-FCAF992E0324}"/>
              </a:ext>
            </a:extLst>
          </p:cNvPr>
          <p:cNvSpPr/>
          <p:nvPr/>
        </p:nvSpPr>
        <p:spPr>
          <a:xfrm>
            <a:off x="12587118" y="757469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6404"/>
            <a:ext cx="409920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Roadmap &amp; What's Next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837724" y="1466731"/>
            <a:ext cx="2221706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Upcoming Milestones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970139" y="1854994"/>
            <a:ext cx="22860" cy="2984897"/>
          </a:xfrm>
          <a:prstGeom prst="roundRect">
            <a:avLst>
              <a:gd name="adj" fmla="val 102098"/>
            </a:avLst>
          </a:prstGeom>
          <a:solidFill>
            <a:srgbClr val="5D606B"/>
          </a:solidFill>
          <a:ln/>
        </p:spPr>
      </p:sp>
      <p:sp>
        <p:nvSpPr>
          <p:cNvPr id="5" name="Shape 3"/>
          <p:cNvSpPr/>
          <p:nvPr/>
        </p:nvSpPr>
        <p:spPr>
          <a:xfrm>
            <a:off x="3362682" y="2018586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5D606B"/>
          </a:solidFill>
          <a:ln/>
        </p:spPr>
      </p:sp>
      <p:sp>
        <p:nvSpPr>
          <p:cNvPr id="6" name="Shape 4"/>
          <p:cNvSpPr/>
          <p:nvPr/>
        </p:nvSpPr>
        <p:spPr>
          <a:xfrm>
            <a:off x="3806547" y="1854994"/>
            <a:ext cx="350044" cy="35004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3871793" y="1892737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3148" y="1908453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 3–4 weeks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7724" y="2238256"/>
            <a:ext cx="2365891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FCM alert dispatch, finalize analytics dashboard, full CSV export, complete settings panel, mobile responsiveness 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33731" y="2843093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5D606B"/>
          </a:solidFill>
          <a:ln/>
        </p:spPr>
      </p:sp>
      <p:sp>
        <p:nvSpPr>
          <p:cNvPr id="11" name="Shape 9"/>
          <p:cNvSpPr/>
          <p:nvPr/>
        </p:nvSpPr>
        <p:spPr>
          <a:xfrm>
            <a:off x="3806547" y="2679502"/>
            <a:ext cx="350044" cy="35004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3871793" y="2717244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9523" y="273296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End-Semester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9523" y="3062764"/>
            <a:ext cx="2365891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deployment (Render/Vercel), NDMA pilot demo, WhatsApp/SMS alert integration via Twilio, weather API overlay, full misinformation scoring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2682" y="3649266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5D606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06547" y="3485674"/>
            <a:ext cx="350044" cy="35004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7" name="Text 15"/>
          <p:cNvSpPr/>
          <p:nvPr/>
        </p:nvSpPr>
        <p:spPr>
          <a:xfrm>
            <a:off x="3871793" y="3523417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3148" y="3539133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7724" y="3868936"/>
            <a:ext cx="236589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80% overall completion by finals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12606" y="1466731"/>
            <a:ext cx="2384108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Challenges &amp; Learnings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512606" y="1854994"/>
            <a:ext cx="3093244" cy="1302663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0961" y="2033349"/>
            <a:ext cx="211157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CORS with Gopher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0961" y="2363153"/>
            <a:ext cx="273653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Resolved by routing all social API calls through Flask as a secure proxy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706933" y="1854994"/>
            <a:ext cx="3093363" cy="1302663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5289" y="2033349"/>
            <a:ext cx="2402681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🔄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Supabase Auth Role Sync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885289" y="2363153"/>
            <a:ext cx="2736652" cy="616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Implemented 3-attempt retry logic with exponential delay for metadata verification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12606" y="3258741"/>
            <a:ext cx="3093244" cy="1097280"/>
          </a:xfrm>
          <a:prstGeom prst="roundRect">
            <a:avLst>
              <a:gd name="adj" fmla="val 212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0961" y="3437096"/>
            <a:ext cx="219039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🗺️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Map Container Timing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90961" y="3766899"/>
            <a:ext cx="273653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Solved Leaflet invalidateSize() issues on tab-switch using MutationObserver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06933" y="3258741"/>
            <a:ext cx="3093363" cy="1097280"/>
          </a:xfrm>
          <a:prstGeom prst="roundRect">
            <a:avLst>
              <a:gd name="adj" fmla="val 212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5289" y="3437096"/>
            <a:ext cx="241458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🌐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INCOIS WMS Integration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885289" y="3766899"/>
            <a:ext cx="2736652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Resolved cross-origin map tile issues with Esri base layer + transparent WMS overlay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7724" y="5145014"/>
            <a:ext cx="12954952" cy="27027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7724" y="5285661"/>
            <a:ext cx="129549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Team: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Anika Aswar · Bhargav Ade (Lead) · Durvesh Giradkar · Harshal Bhonde · Swaraj Gaikwad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7724" y="5642729"/>
            <a:ext cx="12954952" cy="1830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5750" dirty="0">
                <a:solidFill>
                  <a:srgbClr val="02C39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safer coasts — one report at a time.</a:t>
            </a:r>
            <a:endParaRPr lang="en-US" sz="575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E3DBD8-5031-1DDE-791A-B3E0B191C94C}"/>
              </a:ext>
            </a:extLst>
          </p:cNvPr>
          <p:cNvSpPr/>
          <p:nvPr/>
        </p:nvSpPr>
        <p:spPr>
          <a:xfrm>
            <a:off x="12548756" y="7489573"/>
            <a:ext cx="2018370" cy="639667"/>
          </a:xfrm>
          <a:prstGeom prst="round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1623</Words>
  <Application>Microsoft Office PowerPoint</Application>
  <PresentationFormat>Custom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Arial</vt:lpstr>
      <vt:lpstr>Source Sans 3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Swaraj Gaikwad</dc:creator>
  <cp:lastModifiedBy>Swaraj Gaikwad</cp:lastModifiedBy>
  <cp:revision>2</cp:revision>
  <dcterms:created xsi:type="dcterms:W3CDTF">2026-03-08T14:37:20Z</dcterms:created>
  <dcterms:modified xsi:type="dcterms:W3CDTF">2026-03-12T14:13:12Z</dcterms:modified>
</cp:coreProperties>
</file>